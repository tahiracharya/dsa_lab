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800" b="1">
                <a:solidFill>
                  <a:srgbClr val="F5F7FA"/>
                </a:solidFill>
              </a:defRPr>
            </a:pPr>
            <a: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93392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41AAFF"/>
                </a:solidFill>
              </a:defRPr>
            </a:pPr>
            <a:r>
              <a:t>in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5852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B4BCC8"/>
                </a:solidFill>
              </a:defRPr>
            </a:pPr>
            <a:r>
              <a:t>A visual guide to LIFO, PUSH, POP, PEEK and array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3502152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3529584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5552" y="354787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935224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962656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98094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368296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95727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41401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01368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18470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61872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2801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30759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AA46"/>
                </a:solidFill>
              </a:defRPr>
            </a:pPr>
            <a:r>
              <a:t>← 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109728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AA46"/>
                </a:solidFill>
              </a:defRPr>
            </a:pPr>
            <a:r>
              <a:t>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5836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1. What is a Stack?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CC8"/>
                </a:solidFill>
              </a:defRPr>
            </a:pPr>
            <a:r>
              <a:t>Think of a pile of plates.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356616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1AAFF"/>
                </a:solidFill>
              </a:defRPr>
            </a:pPr>
            <a: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206240" cy="2834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A linear data structure where insertion and deletion happen at ONE end called 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AA46"/>
                </a:solidFill>
              </a:defRPr>
            </a:pPr>
            <a:r>
              <a:t>LIFO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Last In  →  First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5303520"/>
            <a:ext cx="3017520" cy="384048"/>
          </a:xfrm>
          <a:prstGeom prst="roundRect">
            <a:avLst/>
          </a:prstGeom>
          <a:solidFill>
            <a:srgbClr val="324155"/>
          </a:solidFill>
          <a:ln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5321807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Plate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864608"/>
            <a:ext cx="3017520" cy="384048"/>
          </a:xfrm>
          <a:prstGeom prst="roundRect">
            <a:avLst/>
          </a:prstGeom>
          <a:solidFill>
            <a:srgbClr val="414D5F"/>
          </a:solidFill>
          <a:ln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882896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Plate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425696"/>
            <a:ext cx="3017520" cy="384048"/>
          </a:xfrm>
          <a:prstGeom prst="roundRect">
            <a:avLst/>
          </a:prstGeom>
          <a:solidFill>
            <a:srgbClr val="505969"/>
          </a:solidFill>
          <a:ln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443983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Plate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986783"/>
            <a:ext cx="3017520" cy="384048"/>
          </a:xfrm>
          <a:prstGeom prst="roundRect">
            <a:avLst/>
          </a:prstGeom>
          <a:solidFill>
            <a:srgbClr val="5F6573"/>
          </a:solidFill>
          <a:ln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005071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Plate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260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AA46"/>
                </a:solidFill>
              </a:defRPr>
            </a:pPr>
            <a:r>
              <a:t>Take from here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2. Stack Representation using an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CC8"/>
                </a:solidFill>
              </a:defRPr>
            </a:pPr>
            <a:r>
              <a:t>The TOP index tells us where the next operation happens.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76472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03904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2219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9544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36975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25526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42615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7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68833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075688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03120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2140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1508760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536192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55448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158191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AA46"/>
                </a:solidFill>
              </a:defRPr>
            </a:pPr>
            <a:r>
              <a:t>← 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43484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B4BCC8"/>
                </a:solidFill>
              </a:defRPr>
            </a:pPr>
            <a:r>
              <a:t>index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463040"/>
            <a:ext cx="7223760" cy="128016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6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1600200"/>
            <a:ext cx="6858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6D296"/>
                </a:solidFill>
              </a:defRPr>
            </a:pPr>
            <a:r>
              <a:t>INITIAL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057400"/>
            <a:ext cx="6858000" cy="548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int stack[MAX];   int top = -1;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063240"/>
            <a:ext cx="7223760" cy="128016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FFA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200400"/>
            <a:ext cx="6858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AA46"/>
                </a:solidFill>
              </a:defRPr>
            </a:pPr>
            <a:r>
              <a:t>KEY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657600"/>
            <a:ext cx="6858000" cy="548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top = -1  → empty</a:t>
            </a:r>
            <a:br/>
            <a:r>
              <a:t> top = MAX-1 → full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983480"/>
            <a:ext cx="6949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F5F7FA"/>
                </a:solidFill>
              </a:defRPr>
            </a:pPr>
            <a:r>
              <a:t>Only the TOP end is used for PUSH and POP.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3. PUSH — Insert an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CC8"/>
                </a:solidFill>
              </a:defRPr>
            </a:pPr>
            <a:r>
              <a:t>Example: PUSH(40)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685032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12464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7307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18104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45536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16382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51176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9689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984248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011679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02996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1417320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444752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14630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149047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AA46"/>
                </a:solidFill>
              </a:defRPr>
            </a:pPr>
            <a:r>
              <a:t>← 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196596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41AAFF"/>
                </a:solidFill>
              </a:defRPr>
            </a:pPr>
            <a:r>
              <a:t>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196596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5F7FA"/>
                </a:solidFill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685032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12464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37307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118104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145536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16382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551176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578608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259689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1984248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011679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202996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1417320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1444752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14630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149047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AA46"/>
                </a:solidFill>
              </a:defRPr>
            </a:pPr>
            <a:r>
              <a:t>← TOP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1371600"/>
            <a:ext cx="3840480" cy="338328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6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1508760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6D296"/>
                </a:solidFill>
              </a:defRPr>
            </a:pPr>
            <a:r>
              <a:t>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1965960"/>
            <a:ext cx="34747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1. Check overflow</a:t>
            </a:r>
            <a:br/>
            <a:r>
              <a:t>2. Increment TOP</a:t>
            </a:r>
            <a:br/>
            <a:r>
              <a:t>3. Store item at stack[top]</a:t>
            </a:r>
            <a:br/>
            <a:r>
              <a:t>4. New item becomes TOP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892040"/>
            <a:ext cx="6400800" cy="1143000"/>
          </a:xfrm>
          <a:prstGeom prst="roundRect">
            <a:avLst/>
          </a:prstGeom>
          <a:solidFill>
            <a:srgbClr val="0C1016"/>
          </a:solidFill>
          <a:ln>
            <a:solidFill>
              <a:srgbClr val="41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" y="5001768"/>
            <a:ext cx="60716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  <a:latin typeface="Consolas"/>
              </a:defRPr>
            </a:pPr>
            <a:r>
              <a:t>if (top == MAX-1)</a:t>
            </a:r>
            <a:br/>
            <a:r>
              <a:t>    printf("Overflow");</a:t>
            </a:r>
            <a:br/>
            <a:r>
              <a:t>else {</a:t>
            </a:r>
            <a:br/>
            <a:r>
              <a:t>    top++;</a:t>
            </a:r>
            <a:br/>
            <a:r>
              <a:t>    stack[top] = item;</a:t>
            </a:r>
            <a:br/>
            <a:r>
              <a:t>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4. POP — Remove the TOP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CC8"/>
                </a:solidFill>
              </a:defRPr>
            </a:pPr>
            <a:r>
              <a:t>Example: POP() removes 40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685032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12464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7307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18104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45536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16382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51176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9689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984248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011679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02996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1417320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444752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14630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149047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AA46"/>
                </a:solidFill>
              </a:defRPr>
            </a:pPr>
            <a:r>
              <a:t>← 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196596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55A64"/>
                </a:solidFill>
              </a:defRPr>
            </a:pPr>
            <a:r>
              <a:t>POP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196596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5F7FA"/>
                </a:solidFill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685032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12464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37307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118104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145536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16382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551176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578608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259689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1984248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011679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202996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1417320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1444752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14630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149047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AA46"/>
                </a:solidFill>
              </a:defRPr>
            </a:pPr>
            <a:r>
              <a:t>← TOP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1371600"/>
            <a:ext cx="3840480" cy="338328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F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1508760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55A64"/>
                </a:solidFill>
              </a:defRPr>
            </a:pPr>
            <a:r>
              <a:t>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1965960"/>
            <a:ext cx="34747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1. Check underflow</a:t>
            </a:r>
            <a:br/>
            <a:r>
              <a:t>2. Read stack[top]</a:t>
            </a:r>
            <a:br/>
            <a:r>
              <a:t>3. Decrement TOP</a:t>
            </a:r>
            <a:br/>
            <a:r>
              <a:t>4. Return removed item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892040"/>
            <a:ext cx="6400800" cy="1143000"/>
          </a:xfrm>
          <a:prstGeom prst="roundRect">
            <a:avLst/>
          </a:prstGeom>
          <a:solidFill>
            <a:srgbClr val="0C1016"/>
          </a:solidFill>
          <a:ln>
            <a:solidFill>
              <a:srgbClr val="41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" y="5001768"/>
            <a:ext cx="60716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  <a:latin typeface="Consolas"/>
              </a:defRPr>
            </a:pPr>
            <a:r>
              <a:t>if (top == -1)</a:t>
            </a:r>
            <a:br/>
            <a:r>
              <a:t>    printf("Underflow");</a:t>
            </a:r>
            <a:br/>
            <a:r>
              <a:t>else {</a:t>
            </a:r>
            <a:br/>
            <a:r>
              <a:t>    item = stack[top];</a:t>
            </a:r>
            <a:br/>
            <a:r>
              <a:t>    top--;</a:t>
            </a:r>
            <a:br/>
            <a:r>
              <a:t>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5. PEEK — See the TOP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CC8"/>
                </a:solidFill>
              </a:defRPr>
            </a:pPr>
            <a:r>
              <a:t>PEEK reads without removing.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85032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712464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7307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18104"/>
            <a:ext cx="1234440" cy="566928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45536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16382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51176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9689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1984248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11679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02996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1417320"/>
            <a:ext cx="1234440" cy="566928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444752"/>
            <a:ext cx="123444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4630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B4BCC8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149047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AA46"/>
                </a:solidFill>
              </a:defRPr>
            </a:pPr>
            <a:r>
              <a:t>← 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10312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A06EFF"/>
                </a:solidFill>
              </a:defRPr>
            </a:pPr>
            <a:r>
              <a:t>PEEK()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0312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5F7FA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1463040"/>
            <a:ext cx="5212080" cy="141732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160020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A06EFF"/>
                </a:solidFill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057400"/>
            <a:ext cx="4846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PEEK() = 30</a:t>
            </a:r>
            <a:br/>
            <a:r>
              <a:t>TOP remains unchanged.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3246120"/>
            <a:ext cx="5212080" cy="1508760"/>
          </a:xfrm>
          <a:prstGeom prst="roundRect">
            <a:avLst/>
          </a:prstGeom>
          <a:solidFill>
            <a:srgbClr val="0C1016"/>
          </a:solidFill>
          <a:ln>
            <a:solidFill>
              <a:srgbClr val="41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6672" y="3355848"/>
            <a:ext cx="4882896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  <a:latin typeface="Consolas"/>
              </a:defRPr>
            </a:pPr>
            <a:r>
              <a:t>if (top == -1)</a:t>
            </a:r>
            <a:br/>
            <a:r>
              <a:t>    printf("Empty");</a:t>
            </a:r>
            <a:br/>
            <a:r>
              <a:t>else</a:t>
            </a:r>
            <a:br/>
            <a:r>
              <a:t>    printf("%d", stack[top]);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07492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POP changes TOP.  PEEK does not.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6. Overflow vs Underflow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347472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FFA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39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AA46"/>
                </a:solidFill>
              </a:defRPr>
            </a:pPr>
            <a:r>
              <a:t>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8463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Trying to PUSH when the stack is FULL.</a:t>
            </a:r>
            <a:br/>
            <a:br/>
            <a:r>
              <a:t>Condition:</a:t>
            </a:r>
            <a:br/>
            <a:r>
              <a:t>top == MAX - 1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FAA46"/>
                </a:solidFill>
              </a:defRPr>
            </a:pPr>
            <a:r>
              <a:t>PUSH  →  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212080" cy="347472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F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39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55A64"/>
                </a:solidFill>
              </a:defRPr>
            </a:pPr>
            <a:r>
              <a:t>UNDERFLOW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8463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Trying to POP/PEEK when the stack is EMPTY.</a:t>
            </a:r>
            <a:br/>
            <a:br/>
            <a:r>
              <a:t>Condition:</a:t>
            </a:r>
            <a:br/>
            <a:r>
              <a:t>top == 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16052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55A64"/>
                </a:solidFill>
              </a:defRPr>
            </a:pPr>
            <a:r>
              <a:t>POP  →  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62356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5F7FA"/>
                </a:solidFill>
              </a:defRPr>
            </a:pPr>
            <a:r>
              <a:t>Always check the boundary before operating.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7. Menu-Driven Stack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CC8"/>
                </a:solidFill>
              </a:defRPr>
            </a:pPr>
            <a:r>
              <a:t>Simple implementation using an array.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400800" cy="4983480"/>
          </a:xfrm>
          <a:prstGeom prst="roundRect">
            <a:avLst/>
          </a:prstGeom>
          <a:solidFill>
            <a:srgbClr val="0C1016"/>
          </a:solidFill>
          <a:ln>
            <a:solidFill>
              <a:srgbClr val="41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344168"/>
            <a:ext cx="6071616" cy="4800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0"/>
                </a:solidFill>
                <a:latin typeface="Consolas"/>
              </a:defRPr>
            </a:pPr>
            <a:r>
              <a:t>#include &lt;stdio.h&gt;</a:t>
            </a:r>
            <a:br/>
            <a:r>
              <a:t>#define MAX 5</a:t>
            </a:r>
            <a:br/>
            <a:br/>
            <a:r>
              <a:t>int stack[MAX], top = -1;</a:t>
            </a:r>
            <a:br/>
            <a:br/>
            <a:r>
              <a:t>void push(int x) {</a:t>
            </a:r>
            <a:br/>
            <a:r>
              <a:t>    if (top == MAX-1) printf("Overflow\n");</a:t>
            </a:r>
            <a:br/>
            <a:r>
              <a:t>    else stack[++top] = x;</a:t>
            </a:r>
            <a:br/>
            <a:r>
              <a:t>}</a:t>
            </a:r>
            <a:br/>
            <a:br/>
            <a:r>
              <a:t>int pop() {</a:t>
            </a:r>
            <a:br/>
            <a:r>
              <a:t>    if (top == -1) { printf("Underflow\n"); return -1; }</a:t>
            </a:r>
            <a:br/>
            <a:r>
              <a:t>    return stack[top--];</a:t>
            </a:r>
            <a:br/>
            <a:r>
              <a:t>}</a:t>
            </a:r>
            <a:br/>
            <a:br/>
            <a:r>
              <a:t>int peek() {</a:t>
            </a:r>
            <a:br/>
            <a:r>
              <a:t>    if (top == -1) return -1;</a:t>
            </a:r>
            <a:br/>
            <a:r>
              <a:t>    return stack[top];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325880"/>
            <a:ext cx="4114800" cy="11430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463039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1AAFF"/>
                </a:solidFill>
              </a:defRPr>
            </a:pPr>
            <a:r>
              <a:t>CORE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920240"/>
            <a:ext cx="3749039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stack[MAX]</a:t>
            </a:r>
            <a:br/>
            <a:r>
              <a:t>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697480"/>
            <a:ext cx="4114800" cy="132588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6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8346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6D296"/>
                </a:solidFill>
              </a:defRPr>
            </a:pPr>
            <a:r>
              <a:t>CORE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291840"/>
            <a:ext cx="3749039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push()</a:t>
            </a:r>
            <a:br/>
            <a:r>
              <a:t>pop()</a:t>
            </a:r>
            <a:br/>
            <a:r>
              <a:t>peek()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4297680"/>
            <a:ext cx="4114800" cy="123444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F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443484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55A64"/>
                </a:solidFill>
              </a:defRPr>
            </a:pPr>
            <a:r>
              <a:t>BOUNDARY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89204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Overflow: top == MAX-1</a:t>
            </a:r>
            <a:br/>
            <a:r>
              <a:t>Underflow: top == 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8. Worked Example — Operations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1AAFF"/>
                </a:solidFill>
              </a:defRPr>
            </a:pPr>
            <a:r>
              <a:t>PUSH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962656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990088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95728"/>
            <a:ext cx="1051560" cy="530352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1051560" cy="530352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56231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AA46"/>
                </a:solidFill>
              </a:defRPr>
            </a:pPr>
            <a:r>
              <a:t>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2344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1AAFF"/>
                </a:solidFill>
              </a:defRPr>
            </a:pPr>
            <a:r>
              <a:t>PUSH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2962656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2990088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2395728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2423160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79" y="1828800"/>
            <a:ext cx="1051560" cy="530352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856231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834640" y="3749039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AA46"/>
                </a:solidFill>
              </a:defRPr>
            </a:pPr>
            <a:r>
              <a:t>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2344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1AAFF"/>
                </a:solidFill>
              </a:defRPr>
            </a:pPr>
            <a:r>
              <a:t>PUSH 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962656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990088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395728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423160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828800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856231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749039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AA46"/>
                </a:solidFill>
              </a:defRPr>
            </a:pPr>
            <a:r>
              <a:t>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2344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5A64"/>
                </a:solidFill>
              </a:defRPr>
            </a:pPr>
            <a:r>
              <a:t>POP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59" y="2962656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2990088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59" y="2395728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2423160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59" y="1828800"/>
            <a:ext cx="1051560" cy="530352"/>
          </a:xfrm>
          <a:prstGeom prst="rect">
            <a:avLst/>
          </a:prstGeom>
          <a:solidFill>
            <a:srgbClr val="2B3444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59" y="1856231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675120" y="3749039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AA46"/>
                </a:solidFill>
              </a:defRPr>
            </a:pPr>
            <a:r>
              <a:t>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12344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1AAFF"/>
                </a:solidFill>
              </a:defRPr>
            </a:pPr>
            <a:r>
              <a:t>PUSH 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2962656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2990088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395728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2423160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1828800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1856231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59" y="3749039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AA46"/>
                </a:solidFill>
              </a:defRPr>
            </a:pPr>
            <a:r>
              <a:t>TOP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12344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A06EFF"/>
                </a:solidFill>
              </a:defRPr>
            </a:pPr>
            <a:r>
              <a:t>PEEK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78440" y="2962656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2990088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395728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78440" y="2423160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78440" y="1828800"/>
            <a:ext cx="1051560" cy="530352"/>
          </a:xfrm>
          <a:prstGeom prst="rect">
            <a:avLst/>
          </a:prstGeom>
          <a:solidFill>
            <a:srgbClr val="2A556E"/>
          </a:solidFill>
          <a:ln>
            <a:solidFill>
              <a:srgbClr val="6E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78440" y="1856231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3749039"/>
            <a:ext cx="777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AA46"/>
                </a:solidFill>
              </a:defRPr>
            </a:pPr>
            <a:r>
              <a:t>TOP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507492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5F7FA"/>
                </a:solidFill>
              </a:defRPr>
            </a:pPr>
            <a:r>
              <a:t>Final stack: 10 | 20 | 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9. Stack Operations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46120" cy="310896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39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1AAFF"/>
                </a:solidFill>
              </a:defRPr>
            </a:pPr>
            <a:r>
              <a:t>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2880360" cy="2377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Insert</a:t>
            </a:r>
            <a:br/>
            <a:br/>
            <a:r>
              <a:t>TOP ↑</a:t>
            </a:r>
            <a:br/>
            <a:br/>
            <a:r>
              <a:t>No. of elements changes: YES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54480"/>
            <a:ext cx="3246120" cy="310896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F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691639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55A64"/>
                </a:solidFill>
              </a:defRPr>
            </a:pPr>
            <a:r>
              <a:t>POP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148840"/>
            <a:ext cx="2880360" cy="2377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Delete</a:t>
            </a:r>
            <a:br/>
            <a:br/>
            <a:r>
              <a:t>TOP ↓</a:t>
            </a:r>
            <a:br/>
            <a:br/>
            <a:r>
              <a:t>No. of elements changes: 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54480"/>
            <a:ext cx="3246120" cy="310896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691639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A06EFF"/>
                </a:solidFill>
              </a:defRPr>
            </a:pPr>
            <a:r>
              <a:t>PEEK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48840"/>
            <a:ext cx="2880360" cy="2377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Read</a:t>
            </a:r>
            <a:br/>
            <a:br/>
            <a:r>
              <a:t>TOP ↔</a:t>
            </a:r>
            <a:br/>
            <a:br/>
            <a:r>
              <a:t>No. of elements changes: 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46D296"/>
                </a:solidFill>
              </a:defRPr>
            </a:pPr>
            <a:r>
              <a:t>Time complexity: PUSH = O(1)   •   POP = O(1)   •   PEEK = O(1)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10. Where are Stacks Used?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246120" cy="16002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1AAFF"/>
                </a:solidFill>
              </a:defRPr>
            </a:pPr>
            <a:r>
              <a:t>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880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Undo / Redo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3246120" cy="16002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6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554480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6D296"/>
                </a:solidFill>
              </a:defRPr>
            </a:pPr>
            <a:r>
              <a:t>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011680"/>
            <a:ext cx="2880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Browser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17320"/>
            <a:ext cx="3246120" cy="16002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FFA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554480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AA46"/>
                </a:solidFill>
              </a:defRPr>
            </a:pPr>
            <a: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011680"/>
            <a:ext cx="2880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Function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3246120" cy="16002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79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A06E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2880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Parentheses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474720"/>
            <a:ext cx="3246120" cy="16002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F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611879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55A64"/>
                </a:solidFill>
              </a:defRPr>
            </a:pPr>
            <a: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069080"/>
            <a:ext cx="2880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DFS Traversal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474720"/>
            <a:ext cx="3246120" cy="16002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611879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1AAFF"/>
                </a:solidFill>
              </a:defRPr>
            </a:pPr>
            <a:r>
              <a:t>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069080"/>
            <a:ext cx="2880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</a:defRPr>
            </a:pPr>
            <a:r>
              <a:t>Expression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1500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Whenever the most recent item must be handled first → think STACK.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11. Quick Check — Can You Answer?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074920" cy="11430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39"/>
            <a:ext cx="47091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1AAFF"/>
                </a:solidFill>
              </a:defRPr>
            </a:pPr>
            <a:r>
              <a:t>1. What does LIFO mean?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325880"/>
            <a:ext cx="5074920" cy="11430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6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463039"/>
            <a:ext cx="47091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6D296"/>
                </a:solidFill>
              </a:defRPr>
            </a:pPr>
            <a:r>
              <a:t>2. What is the initial value of TOP?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39"/>
            <a:ext cx="5074920" cy="11430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799"/>
            <a:ext cx="47091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1AAFF"/>
                </a:solidFill>
              </a:defRPr>
            </a:pPr>
            <a:r>
              <a:t>3. When does Overflow occur?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834639"/>
            <a:ext cx="5074920" cy="11430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6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971799"/>
            <a:ext cx="47091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6D296"/>
                </a:solidFill>
              </a:defRPr>
            </a:pPr>
            <a:r>
              <a:t>4. Which operation removes an element?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5074920" cy="11430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1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7091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1AAFF"/>
                </a:solidFill>
              </a:defRPr>
            </a:pPr>
            <a:r>
              <a:t>5. Does PEEK change TOP?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4343400"/>
            <a:ext cx="5074920" cy="1143000"/>
          </a:xfrm>
          <a:prstGeom prst="roundRect">
            <a:avLst/>
          </a:prstGeom>
          <a:solidFill>
            <a:srgbClr val="1F2632"/>
          </a:solidFill>
          <a:ln w="19050">
            <a:solidFill>
              <a:srgbClr val="46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80560"/>
            <a:ext cx="47091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6D296"/>
                </a:solidFill>
              </a:defRPr>
            </a:pPr>
            <a:r>
              <a:t>6. What is the time complexity of PUSH?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98932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4BCC8"/>
                </a:solidFill>
              </a:defRPr>
            </a:pPr>
            <a:r>
              <a:t>Key: LIFO • top = -1 • full stack • POP • No • O(1)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5105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B4BCC8"/>
                </a:solidFill>
              </a:defRPr>
            </a:pPr>
            <a:r>
              <a:t>STACK IN C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